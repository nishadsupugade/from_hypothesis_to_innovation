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7060" y="2028378"/>
            <a:ext cx="2834729" cy="3190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1049000" cy="5905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3933" y="2557016"/>
            <a:ext cx="9061132" cy="569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Free AI Tools for Academic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9250" y="3298031"/>
            <a:ext cx="7810500" cy="578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b="0" sz="1425" i="0" u="none">
                <a:solidFill>
                  <a:srgbClr val="94A3B8"/>
                </a:solidFill>
                <a:latin typeface="Inter"/>
              </a:rPr>
              <a:t>A Comprehensive Guide to Stage-Based AI Toolkits &amp; Systematic Literature Search Strategies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049000" cy="5905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143500" y="2225129"/>
            <a:ext cx="7620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64042" y="2491829"/>
            <a:ext cx="73209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Modern AI Research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95500" y="3330029"/>
            <a:ext cx="6858000" cy="578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b="0" sz="1425" i="0" u="none">
                <a:solidFill>
                  <a:srgbClr val="475569"/>
                </a:solidFill>
                <a:latin typeface="Inter"/>
              </a:rPr>
              <a:t>Leveraging specialized open-access artificial intelligence tools to optimize literature discovery, synthesis, data analysis, and peer review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648" y="2560290"/>
            <a:ext cx="2072580" cy="25659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5679" y="2560290"/>
            <a:ext cx="2072580" cy="25659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9709" y="2560290"/>
            <a:ext cx="2072580" cy="256594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3740" y="2560290"/>
            <a:ext cx="2072580" cy="256594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7770" y="2560290"/>
            <a:ext cx="2072580" cy="256594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673" y="2760315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1673" y="3350865"/>
            <a:ext cx="14701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F172A"/>
                </a:solidFill>
                <a:latin typeface="Plus Jakarta Sans SemiBold"/>
              </a:rPr>
              <a:t>1. Literature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673" y="3655665"/>
            <a:ext cx="1171575" cy="1656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64748B"/>
                </a:solidFill>
                <a:latin typeface="Inter"/>
              </a:rPr>
              <a:t>Semantic &amp; AI Search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15704" y="2760315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15704" y="3350865"/>
            <a:ext cx="16502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F172A"/>
                </a:solidFill>
                <a:latin typeface="Plus Jakarta Sans SemiBold"/>
              </a:rPr>
              <a:t>2. Literature 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5704" y="3655665"/>
            <a:ext cx="838200" cy="1656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64748B"/>
                </a:solidFill>
                <a:latin typeface="Inter"/>
              </a:rPr>
              <a:t>Citation Graphs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9734" y="2760315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259734" y="3350865"/>
            <a:ext cx="115014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F172A"/>
                </a:solidFill>
                <a:latin typeface="Plus Jakarta Sans SemiBold"/>
              </a:rPr>
              <a:t>3. Note-Taking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9734" y="3655665"/>
            <a:ext cx="895350" cy="1656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64748B"/>
                </a:solidFill>
                <a:latin typeface="Inter"/>
              </a:rPr>
              <a:t>RAG &amp; Synthesis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3765" y="2760315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503765" y="3350865"/>
            <a:ext cx="1200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F172A"/>
                </a:solidFill>
                <a:latin typeface="Plus Jakarta Sans SemiBold"/>
              </a:rPr>
              <a:t>4. Data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3765" y="3655665"/>
            <a:ext cx="809625" cy="1656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64748B"/>
                </a:solidFill>
                <a:latin typeface="Inter"/>
              </a:rPr>
              <a:t>Open Statistics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47795" y="2760315"/>
            <a:ext cx="457200" cy="457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747795" y="3350865"/>
            <a:ext cx="14401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F172A"/>
                </a:solidFill>
                <a:latin typeface="Plus Jakarta Sans SemiBold"/>
              </a:rPr>
              <a:t>5. Visuals &amp; Editing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47795" y="3655665"/>
            <a:ext cx="1114425" cy="1656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64748B"/>
                </a:solidFill>
                <a:latin typeface="Inter"/>
              </a:rPr>
              <a:t>Proofing &amp; Diagrams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448" y="2865090"/>
            <a:ext cx="247650" cy="2476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85973" y="3878460"/>
            <a:ext cx="962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475569"/>
                </a:solidFill>
                <a:latin typeface="Inter"/>
              </a:rPr>
              <a:t>Semantic Scholar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973" y="4088010"/>
            <a:ext cx="962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475569"/>
                </a:solidFill>
                <a:latin typeface="Inter"/>
              </a:rPr>
              <a:t>Search Smart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973" y="4297560"/>
            <a:ext cx="962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475569"/>
                </a:solidFill>
                <a:latin typeface="Inter"/>
              </a:rPr>
              <a:t>Consensus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973" y="4507110"/>
            <a:ext cx="962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475569"/>
                </a:solidFill>
                <a:latin typeface="Inter"/>
              </a:rPr>
              <a:t>Scinapse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973" y="4716660"/>
            <a:ext cx="962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475569"/>
                </a:solidFill>
                <a:latin typeface="Inter"/>
              </a:rPr>
              <a:t>R Discovery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06191" y="2865090"/>
            <a:ext cx="276225" cy="2476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130004" y="3878460"/>
            <a:ext cx="1238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475569"/>
                </a:solidFill>
                <a:latin typeface="Inter"/>
              </a:rPr>
              <a:t>ResearchRabbit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30004" y="4088010"/>
            <a:ext cx="1238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475569"/>
                </a:solidFill>
                <a:latin typeface="Inter"/>
              </a:rPr>
              <a:t>Inciteful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30004" y="4297560"/>
            <a:ext cx="1238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475569"/>
                </a:solidFill>
                <a:latin typeface="Inter"/>
              </a:rPr>
              <a:t>Open Knowledge Maps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30004" y="4507110"/>
            <a:ext cx="1238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475569"/>
                </a:solidFill>
                <a:latin typeface="Inter"/>
              </a:rPr>
              <a:t>VOSviewer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30004" y="4716660"/>
            <a:ext cx="1238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475569"/>
                </a:solidFill>
                <a:latin typeface="Inter"/>
              </a:rPr>
              <a:t>Connected Papers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78797" y="2865090"/>
            <a:ext cx="219075" cy="2476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374034" y="387846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475569"/>
                </a:solidFill>
                <a:latin typeface="Inter"/>
              </a:rPr>
              <a:t>Google NotebookLM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74034" y="408801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475569"/>
                </a:solidFill>
                <a:latin typeface="Inter"/>
              </a:rPr>
              <a:t>Notion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74034" y="429756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475569"/>
                </a:solidFill>
                <a:latin typeface="Inter"/>
              </a:rPr>
              <a:t>Glasp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08540" y="2865090"/>
            <a:ext cx="247650" cy="24765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618065" y="3878460"/>
            <a:ext cx="11525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475569"/>
                </a:solidFill>
                <a:latin typeface="Inter"/>
              </a:rPr>
              <a:t>JASP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18065" y="4088010"/>
            <a:ext cx="11525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475569"/>
                </a:solidFill>
                <a:latin typeface="Inter"/>
              </a:rPr>
              <a:t>Simple ML for Sheets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18065" y="4297560"/>
            <a:ext cx="11525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475569"/>
                </a:solidFill>
                <a:latin typeface="Inter"/>
              </a:rPr>
              <a:t>R Project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52570" y="2865090"/>
            <a:ext cx="247650" cy="24765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862095" y="3878460"/>
            <a:ext cx="12858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475569"/>
                </a:solidFill>
                <a:latin typeface="Inter"/>
              </a:rPr>
              <a:t>diagrams.net / Inkscape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62095" y="4088010"/>
            <a:ext cx="12858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475569"/>
                </a:solidFill>
                <a:latin typeface="Inter"/>
              </a:rPr>
              <a:t>Meta AI / Bing Creator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62095" y="4297560"/>
            <a:ext cx="12858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475569"/>
                </a:solidFill>
                <a:latin typeface="Inter"/>
              </a:rPr>
              <a:t>ChatGPT / Hemingway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62095" y="4507110"/>
            <a:ext cx="12858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475569"/>
                </a:solidFill>
                <a:latin typeface="Inter"/>
              </a:rPr>
              <a:t>Zotero / Mendeley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1673" y="387846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1673" y="408801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1673" y="429756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1673" y="450711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1673" y="471666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15704" y="387846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15704" y="408801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15704" y="429756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15704" y="450711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15704" y="471666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59734" y="387846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59734" y="408801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59734" y="429756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03765" y="387846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03765" y="408801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03765" y="429756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47795" y="387846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47795" y="408801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47795" y="429756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47795" y="450711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AI Tools by Research Stage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1500" y="10477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21793"/>
            <a:ext cx="3555950" cy="18430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921793"/>
            <a:ext cx="3555950" cy="18430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2921793"/>
            <a:ext cx="3556099" cy="18430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625" y="3159918"/>
            <a:ext cx="323368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0D9488"/>
                </a:solidFill>
                <a:latin typeface="Plus Jakarta Sans SemiBold"/>
              </a:rPr>
              <a:t>Tier 1: Foundational (5 Papers)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512343"/>
            <a:ext cx="307970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Established theoretical frameworks and seminal papers defining the field.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6075" y="3159918"/>
            <a:ext cx="323368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0D9488"/>
                </a:solidFill>
                <a:latin typeface="Plus Jakarta Sans SemiBold"/>
              </a:rPr>
              <a:t>Tier 2: Directly Related (15 Papers)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6075" y="3512343"/>
            <a:ext cx="307970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Studies directly examining your target variables and methodologies.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2525" y="3159918"/>
            <a:ext cx="3233841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0D9488"/>
                </a:solidFill>
                <a:latin typeface="Plus Jakarta Sans SemiBold"/>
              </a:rPr>
              <a:t>Tier 3: Emerging Trends (10 Papers)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525" y="3512343"/>
            <a:ext cx="3079849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Recent publications highlighting novel directions and state-of-the-art developments.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425" y="3881437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883818"/>
            <a:ext cx="3079700" cy="214312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Answers: </a:t>
            </a:r>
            <a:r>
              <a:rPr b="0" sz="1125" i="1" u="none">
                <a:solidFill>
                  <a:srgbClr val="475569"/>
                </a:solidFill>
                <a:latin typeface="Inter"/>
              </a:rPr>
              <a:t>What is the field built upon?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425" y="4095750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4098131"/>
            <a:ext cx="3079700" cy="214312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Extract core definitions &amp; paradigms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" y="4310062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4312443"/>
            <a:ext cx="3079700" cy="214312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High citation impact &amp; canonical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9875" y="3881437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6075" y="3883818"/>
            <a:ext cx="3079700" cy="214312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Identifies patterns &amp; contradictions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9875" y="4095750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075" y="4098131"/>
            <a:ext cx="3079700" cy="214312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Maps methodological variances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9875" y="4310062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6075" y="4312443"/>
            <a:ext cx="3079700" cy="214312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Pinpoints explicit research gaps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6325" y="3881437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525" y="3883818"/>
            <a:ext cx="3079849" cy="214312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Uncovers current technological pushes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6325" y="4095750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525" y="4098131"/>
            <a:ext cx="3079849" cy="214312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Explores interdisciplinary applications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6325" y="4310062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525" y="4312443"/>
            <a:ext cx="3079849" cy="214312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Informs future recommendation models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The 3-Tier Literature System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1500" y="10477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6007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Literature Mapping &amp; Network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047750"/>
            <a:ext cx="5334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476500"/>
            <a:ext cx="56007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0D9488"/>
                </a:solidFill>
                <a:latin typeface="Plus Jakarta Sans"/>
              </a:rPr>
              <a:t>Citation Graph Visualization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838450"/>
            <a:ext cx="5334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Visual mapping transforms linear literature searching into an intuitive, network-based exploration process.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3371850"/>
            <a:ext cx="5334000" cy="80486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850" y="3467100"/>
            <a:ext cx="5067300" cy="614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0F172A"/>
                </a:solidFill>
                <a:latin typeface="Inter"/>
              </a:rPr>
              <a:t>Co-Citation &amp; Bibliometric Clustering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Connected Papers &amp; Inciteful generate interactive graphs connecting derivative works and predecessor studies.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3371850"/>
            <a:ext cx="38100" cy="80486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4291012"/>
            <a:ext cx="5334000" cy="80486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850" y="4386262"/>
            <a:ext cx="5067300" cy="614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0F172A"/>
                </a:solidFill>
                <a:latin typeface="Inter"/>
              </a:rPr>
              <a:t>Dynamic Bibliography Tracking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ResearchRabbit monitors your collections to automatically suggest newly published relevant papers.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4291012"/>
            <a:ext cx="38100" cy="80486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3967162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1116" y="4195762"/>
            <a:ext cx="1276096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0F172A"/>
                </a:solidFill>
                <a:latin typeface="Plus Jakarta Sans SemiBold"/>
              </a:rPr>
              <a:t>1. Find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433887"/>
            <a:ext cx="121533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b="0" sz="825" i="0" u="none">
                <a:solidFill>
                  <a:srgbClr val="64748B"/>
                </a:solidFill>
                <a:latin typeface="Inter"/>
              </a:rPr>
              <a:t>Semantic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45905" y="3381375"/>
            <a:ext cx="1276096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0F172A"/>
                </a:solidFill>
                <a:latin typeface="Plus Jakarta Sans SemiBold"/>
              </a:rPr>
              <a:t>2.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76288" y="3619500"/>
            <a:ext cx="121533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b="0" sz="825" i="0" u="none">
                <a:solidFill>
                  <a:srgbClr val="64748B"/>
                </a:solidFill>
                <a:latin typeface="Inter"/>
              </a:rPr>
              <a:t>Graph networks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0694" y="4195762"/>
            <a:ext cx="1276096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0F172A"/>
                </a:solidFill>
                <a:latin typeface="Plus Jakarta Sans SemiBold"/>
              </a:rPr>
              <a:t>3. Filter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1077" y="4433887"/>
            <a:ext cx="121533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b="0" sz="825" i="0" u="none">
                <a:solidFill>
                  <a:srgbClr val="64748B"/>
                </a:solidFill>
                <a:latin typeface="Inter"/>
              </a:rPr>
              <a:t>3-Tier triage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5482" y="3381375"/>
            <a:ext cx="1276096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0F172A"/>
                </a:solidFill>
                <a:latin typeface="Plus Jakarta Sans SemiBold"/>
              </a:rPr>
              <a:t>4. Synthesize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5866" y="3619500"/>
            <a:ext cx="121533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b="0" sz="825" i="0" u="none">
                <a:solidFill>
                  <a:srgbClr val="64748B"/>
                </a:solidFill>
                <a:latin typeface="Inter"/>
              </a:rPr>
              <a:t>NotebookLM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0271" y="4195762"/>
            <a:ext cx="1276096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0F172A"/>
                </a:solidFill>
                <a:latin typeface="Plus Jakarta Sans SemiBold"/>
              </a:rPr>
              <a:t>5. Analyze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654" y="4433887"/>
            <a:ext cx="121533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b="0" sz="825" i="0" u="none">
                <a:solidFill>
                  <a:srgbClr val="64748B"/>
                </a:solidFill>
                <a:latin typeface="Inter"/>
              </a:rPr>
              <a:t>JASP statistics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5060" y="3381375"/>
            <a:ext cx="1276096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0F172A"/>
                </a:solidFill>
                <a:latin typeface="Plus Jakarta Sans SemiBold"/>
              </a:rPr>
              <a:t>6. Illustrate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95443" y="3619500"/>
            <a:ext cx="121533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b="0" sz="825" i="0" u="none">
                <a:solidFill>
                  <a:srgbClr val="64748B"/>
                </a:solidFill>
                <a:latin typeface="Inter"/>
              </a:rPr>
              <a:t>Diagrams &amp; vector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9848" y="4195762"/>
            <a:ext cx="1276096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0F172A"/>
                </a:solidFill>
                <a:latin typeface="Plus Jakarta Sans SemiBold"/>
              </a:rPr>
              <a:t>7. Refine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0232" y="4433887"/>
            <a:ext cx="121533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b="0" sz="825" i="0" u="none">
                <a:solidFill>
                  <a:srgbClr val="64748B"/>
                </a:solidFill>
                <a:latin typeface="Inter"/>
              </a:rPr>
              <a:t>Editing &amp; clarity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74637" y="3381375"/>
            <a:ext cx="1276096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0F172A"/>
                </a:solidFill>
                <a:latin typeface="Plus Jakarta Sans SemiBold"/>
              </a:rPr>
              <a:t>8. Cite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05020" y="3619500"/>
            <a:ext cx="121533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b="0" sz="825" i="0" u="none">
                <a:solidFill>
                  <a:srgbClr val="64748B"/>
                </a:solidFill>
                <a:latin typeface="Inter"/>
              </a:rPr>
              <a:t>Zotero manager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02965" y="3910012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07753" y="3910012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912542" y="3910012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317331" y="3910012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22119" y="3910012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26908" y="3910012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31697" y="3910012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36485" y="3910012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8-Stage AI Research Workflow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" y="10477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59843"/>
            <a:ext cx="11049000" cy="256698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569368"/>
          <a:ext cx="11029948" cy="2547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642169"/>
                <a:gridCol w="2038201"/>
                <a:gridCol w="4076402"/>
                <a:gridCol w="3273176"/>
              </a:tblGrid>
              <a:tr h="424656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Tool Name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Primary Classification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Core Value Proposition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Best Use Case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24656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475569"/>
                          </a:solidFill>
                          <a:latin typeface="Inter"/>
                        </a:rPr>
                        <a:t>Semantic Scholar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Literature Search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AI-driven paper impact graphs &amp; TLDR summaries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Rapid initial keyword &amp; topic discovery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4656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475569"/>
                          </a:solidFill>
                          <a:latin typeface="Inter"/>
                        </a:rPr>
                        <a:t>Consensus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Literature Search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Extracts direct claims from peer-reviewed literature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Evaluating consensus on specific claims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24656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475569"/>
                          </a:solidFill>
                          <a:latin typeface="Inter"/>
                        </a:rPr>
                        <a:t>Search Smart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Database Selection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Recommends optimal academic search engines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Matching niche topics with databases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4656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475569"/>
                          </a:solidFill>
                          <a:latin typeface="Inter"/>
                        </a:rPr>
                        <a:t>Scinapse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Discovery Engine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Big-data paper analysis and author impact profiling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Comprehensive literature indexing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24657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475569"/>
                          </a:solidFill>
                          <a:latin typeface="Inter"/>
                        </a:rPr>
                        <a:t>R Discovery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Personalized Feed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Mobile &amp; web customized research feeds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Staying updated on topic notifications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993231"/>
            <a:ext cx="16421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23194" y="2993231"/>
            <a:ext cx="20382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61395" y="2993231"/>
            <a:ext cx="40764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37798" y="2993231"/>
            <a:ext cx="32731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1025" y="3417093"/>
            <a:ext cx="16421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23194" y="3417093"/>
            <a:ext cx="20382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61395" y="3417093"/>
            <a:ext cx="40764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37798" y="3417093"/>
            <a:ext cx="32731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1025" y="3840956"/>
            <a:ext cx="16421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23194" y="3840956"/>
            <a:ext cx="20382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61395" y="3840956"/>
            <a:ext cx="40764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37798" y="3840956"/>
            <a:ext cx="32731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1025" y="4264818"/>
            <a:ext cx="16421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23194" y="4264818"/>
            <a:ext cx="20382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61395" y="4264818"/>
            <a:ext cx="40764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37798" y="4264818"/>
            <a:ext cx="32731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1025" y="4688681"/>
            <a:ext cx="16421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23194" y="4688681"/>
            <a:ext cx="20382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61395" y="4688681"/>
            <a:ext cx="40764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37798" y="4688681"/>
            <a:ext cx="32731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Search &amp; Discovery Tools Matrix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" y="10477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8526"/>
            <a:ext cx="5410200" cy="26896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498526"/>
            <a:ext cx="5410200" cy="26896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7725" y="2774751"/>
            <a:ext cx="510063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0D9488"/>
                </a:solidFill>
                <a:latin typeface="Plus Jakarta Sans SemiBold"/>
              </a:rPr>
              <a:t>Grounding &amp; Note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174801"/>
            <a:ext cx="4857750" cy="413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Modern AI note-taking platforms eliminate hallucination risks by anchoring LLMs strictly to uploaded PDFs.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6525" y="2774751"/>
            <a:ext cx="510063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0D9488"/>
                </a:solidFill>
                <a:latin typeface="Plus Jakarta Sans SemiBold"/>
              </a:rPr>
              <a:t>Open Data Analysis Engines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6525" y="3174801"/>
            <a:ext cx="4857750" cy="413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Free, reproducible statistical suites tailored for academic research without expensive licenses.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5" y="3683198"/>
            <a:ext cx="4667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Google NotebookLM: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Uses Retrieval-Augmented Generation (RAG) strictly grounded in source documents.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4159448"/>
            <a:ext cx="4667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Notion AI: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Centralized database organization for literature logs and tagging.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" y="4635698"/>
            <a:ext cx="4667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Glasp: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Social web highlighter for capturing direct quotes and marginalia.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3683198"/>
            <a:ext cx="4667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JASP: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Open-source Bayesian and frequentist statistical analysis software.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7025" y="3959423"/>
            <a:ext cx="4667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Simple ML for Sheets: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Machine learning models integrated directly into Google Sheets.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7025" y="4435673"/>
            <a:ext cx="4667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R Project: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Comprehensive programming environment for reproducible data science.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664148"/>
            <a:ext cx="76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140398"/>
            <a:ext cx="76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4616648"/>
            <a:ext cx="76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6525" y="3664148"/>
            <a:ext cx="76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525" y="3940373"/>
            <a:ext cx="76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6525" y="4416623"/>
            <a:ext cx="76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Note-Taking &amp; Data Analysis AI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10477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71775"/>
            <a:ext cx="11049000" cy="2143125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781300"/>
          <a:ext cx="11029949" cy="2124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810940"/>
                <a:gridCol w="2476500"/>
                <a:gridCol w="6742509"/>
              </a:tblGrid>
              <a:tr h="42481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Category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Selected AI / Open Tools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Primary Research Function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24815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475569"/>
                          </a:solidFill>
                          <a:latin typeface="Inter"/>
                        </a:rPr>
                        <a:t>Flowcharts &amp; Vectors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diagrams.net, Inkscape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Creating high-resolution, vector-graphics methodology figures and process flow diagrams.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4815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475569"/>
                          </a:solidFill>
                          <a:latin typeface="Inter"/>
                        </a:rPr>
                        <a:t>Scientific Visuals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Meta AI, Bing Image Creator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Generating conceptual visual metaphors and graphical abstract background assets.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24815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475569"/>
                          </a:solidFill>
                          <a:latin typeface="Inter"/>
                        </a:rPr>
                        <a:t>Text Style &amp; Flow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Hemingway Editor, Paraphraser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Auditing readability index, eliminating passive voice clutter, and enhancing sentence structure.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4815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475569"/>
                          </a:solidFill>
                          <a:latin typeface="Inter"/>
                        </a:rPr>
                        <a:t>Grammar &amp; Tone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ChatGPT (Prompt-guided)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Polishing tone to adhere to strict academic style guides (e.g., APA, IEEE, Nature).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3205162"/>
            <a:ext cx="18109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391965" y="3205162"/>
            <a:ext cx="2476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68465" y="3205162"/>
            <a:ext cx="67425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1025" y="3629025"/>
            <a:ext cx="18109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91965" y="3629025"/>
            <a:ext cx="2476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68465" y="3629025"/>
            <a:ext cx="67425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1025" y="4052887"/>
            <a:ext cx="18109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91965" y="4052887"/>
            <a:ext cx="2476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68465" y="4052887"/>
            <a:ext cx="67425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1025" y="4476750"/>
            <a:ext cx="18109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91965" y="4476750"/>
            <a:ext cx="2476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68465" y="4476750"/>
            <a:ext cx="67425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Visuals, Editing &amp; Proofreading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0477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0125" y="2895600"/>
            <a:ext cx="106203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F172A"/>
                </a:solidFill>
                <a:latin typeface="Inter SemiBold"/>
              </a:rPr>
              <a:t>Use Document-Grounded RAG Tools: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Prefer systems like Google NotebookLM or local vector databases that answer questions strictly using your uploaded PDF repository.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125" y="3476625"/>
            <a:ext cx="1062037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F172A"/>
                </a:solidFill>
                <a:latin typeface="Inter SemiBold"/>
              </a:rPr>
              <a:t>Verify DOI &amp; Direct Citations: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Never accept citations produced by general LLMs (e.g., standard ChatGPT) without verifying the DOI on PubMed or CrossRef.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125" y="3843337"/>
            <a:ext cx="106203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F172A"/>
                </a:solidFill>
                <a:latin typeface="Inter SemiBold"/>
              </a:rPr>
              <a:t>Triangulate Claims with Consensus: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Cross-check claims using Consensus or Elicit to ensure statements reflect empirical peer-reviewed findings rather than generated 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4424362"/>
            <a:ext cx="1062037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F172A"/>
                </a:solidFill>
                <a:latin typeface="Inter SemiBold"/>
              </a:rPr>
              <a:t>Human-in-the-Loop Oversight: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Treat AI outputs exclusively as preliminary drafts or analytical summaries requiring expert academic verification.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09887"/>
            <a:ext cx="17145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90912"/>
            <a:ext cx="15240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57625"/>
            <a:ext cx="17145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438650"/>
            <a:ext cx="219075" cy="1809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Preventing AI Hallucinations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0477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98514"/>
            <a:ext cx="5410200" cy="288964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398514"/>
            <a:ext cx="5410200" cy="28896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7725" y="2674739"/>
            <a:ext cx="510063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0D9488"/>
                </a:solidFill>
                <a:latin typeface="Plus Jakarta Sans SemiBold"/>
              </a:rPr>
              <a:t>Automated Metadata &amp; PDF Sync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074789"/>
            <a:ext cx="4857750" cy="413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Seamlessly capturing bibliographies, metadata, and full-text PDFs across desktop and web workflows.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6525" y="2674739"/>
            <a:ext cx="510063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0D9488"/>
                </a:solidFill>
                <a:latin typeface="Plus Jakarta Sans SemiBold"/>
              </a:rPr>
              <a:t>Workflow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6525" y="3074789"/>
            <a:ext cx="4857750" cy="20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Linking reference managers with writing suites for friction-free in-text citation.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5" y="3583185"/>
            <a:ext cx="4667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Zotero: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Fully open-source manager with powerful browser connectors and plugin ecosystem (e.g., ZotFile).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4059435"/>
            <a:ext cx="4667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Mendeley: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Cloud-connected reference library with built-in PDF annotation tools.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" y="4535685"/>
            <a:ext cx="4667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JabRef: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Native BibTeX manager tailored for LaTeX manuscript preparation.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3376612"/>
            <a:ext cx="4667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Word &amp; Google Docs Plugins: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Real-time automated bibliography formatting.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7025" y="3852862"/>
            <a:ext cx="4667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LaTeX &amp; Overleaf: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Direct `.bib` file integration for automated formatting.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7025" y="4129087"/>
            <a:ext cx="4667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AI Tagging Sync: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Exporting libraries into ResearchRabbit or Inciteful for network mapping.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564135"/>
            <a:ext cx="76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040385"/>
            <a:ext cx="76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4516635"/>
            <a:ext cx="76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6525" y="3357562"/>
            <a:ext cx="76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525" y="3833812"/>
            <a:ext cx="76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6525" y="4110037"/>
            <a:ext cx="76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Reference Management Tools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10477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7962" y="3602831"/>
            <a:ext cx="5553075" cy="4238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1049000" cy="5905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34088" y="1878806"/>
            <a:ext cx="658082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1" sz="3600" i="0" u="none">
                <a:solidFill>
                  <a:srgbClr val="FFFFFF"/>
                </a:solidFill>
                <a:latin typeface="Plus Jakarta Sans"/>
              </a:rPr>
              <a:t>Build Your AI Research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0750" y="2717006"/>
            <a:ext cx="66675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37"/>
              </a:lnSpc>
            </a:pPr>
            <a:r>
              <a:rPr b="0" sz="1425" i="0" u="none">
                <a:solidFill>
                  <a:srgbClr val="94A3B8"/>
                </a:solidFill>
                <a:latin typeface="Inter"/>
              </a:rPr>
              <a:t>Combine literature discovery, mapping networks, grounded note synthesis, and open reference managers into a systematic, reproducible workflow.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875" y="3605212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24250" y="3612356"/>
            <a:ext cx="62388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https://effortlessacademic.com/wp-content/uploads/2025/12/2025-Best-Lit-Review-Tool-Competition.jpg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24250" y="3845718"/>
            <a:ext cx="6238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effortlessacademic.com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0477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