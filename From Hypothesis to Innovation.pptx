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675" y="1961703"/>
            <a:ext cx="3295650" cy="33992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8951" y="2530226"/>
            <a:ext cx="8771096" cy="61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Poppins"/>
              </a:rPr>
              <a:t>From Hypothesis to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4500" y="3334047"/>
            <a:ext cx="762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 Comprehensive Guide to Understanding, Structuring, and Writing High-Impact Scientific Research Papers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4426"/>
            <a:ext cx="5381625" cy="31500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314426"/>
            <a:ext cx="5381625" cy="31500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628751"/>
            <a:ext cx="4990623" cy="324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b="0" sz="1650" i="0" u="none">
                <a:solidFill>
                  <a:srgbClr val="0D9488"/>
                </a:solidFill>
                <a:latin typeface="Poppins SemiBold"/>
              </a:rPr>
              <a:t>What is Research?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086844"/>
            <a:ext cx="47529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Research is a systematic process of inquiry designed to solve specific problems and unearth novel scientific insights.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2628751"/>
            <a:ext cx="4990623" cy="324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b="0" sz="1650" i="0" u="none">
                <a:solidFill>
                  <a:srgbClr val="0D9488"/>
                </a:solidFill>
                <a:latin typeface="Poppins SemiBold"/>
              </a:rPr>
              <a:t>What is a Research Paper?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3086844"/>
            <a:ext cx="47529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A structured formal document presenting your problem, methodology, discoveries, and scientific significance.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625006"/>
            <a:ext cx="4562475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Asking Clear Questions: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Formulating precise hypotheses based on observed gaps.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133403"/>
            <a:ext cx="4562475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Beyond Summarization: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It is not merely synthesizing existing books or voicing unproven opinions.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641800"/>
            <a:ext cx="4562475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Solving the Gap: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Identifying missing evidence or unanswered "whys" in existing literature.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3700" y="3625006"/>
            <a:ext cx="4562475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Logical Purpose: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Every section plays a vital role in validating your thesis.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4133403"/>
            <a:ext cx="4562475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Quality over Length: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Measured by clarity, methodology, and empirical rigor, not word count.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3700" y="4641800"/>
            <a:ext cx="4562475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Peer Impact: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Designed to advance community knowledge and inform future inquiries.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605956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114353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622750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3605956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4114353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4622750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520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Demystifying Academic Research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092398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060924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8355" y="4308574"/>
            <a:ext cx="1392048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b="0" sz="1125" i="0" u="none">
                <a:solidFill>
                  <a:srgbClr val="0F172A"/>
                </a:solidFill>
                <a:latin typeface="Poppins SemiBold"/>
              </a:rPr>
              <a:t>1.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568130"/>
            <a:ext cx="1325760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Essence &amp;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7368" y="3414712"/>
            <a:ext cx="1392048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b="0" sz="1125" i="0" u="none">
                <a:solidFill>
                  <a:srgbClr val="0F172A"/>
                </a:solidFill>
                <a:latin typeface="Poppins SemiBold"/>
              </a:rPr>
              <a:t>2. Abstract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0512" y="3674268"/>
            <a:ext cx="1325760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Standalone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6381" y="4308574"/>
            <a:ext cx="1392048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b="0" sz="1125" i="0" u="none">
                <a:solidFill>
                  <a:srgbClr val="0F172A"/>
                </a:solidFill>
                <a:latin typeface="Poppins SemiBold"/>
              </a:rPr>
              <a:t>3. Intro &amp;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9525" y="4568130"/>
            <a:ext cx="1325760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Funnel to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5394" y="3414712"/>
            <a:ext cx="1392048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b="0" sz="1125" i="0" u="none">
                <a:solidFill>
                  <a:srgbClr val="0F172A"/>
                </a:solidFill>
                <a:latin typeface="Poppins SemiBold"/>
              </a:rPr>
              <a:t>4. Lit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8538" y="3674268"/>
            <a:ext cx="1325760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Synthesize literature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07" y="4308574"/>
            <a:ext cx="1392048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b="0" sz="1125" i="0" u="none">
                <a:solidFill>
                  <a:srgbClr val="0F172A"/>
                </a:solidFill>
                <a:latin typeface="Poppins SemiBold"/>
              </a:rPr>
              <a:t>5.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7551" y="4568130"/>
            <a:ext cx="1325760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Protocol blueprint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3420" y="3414712"/>
            <a:ext cx="1392048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b="0" sz="1125" i="0" u="none">
                <a:solidFill>
                  <a:srgbClr val="0F172A"/>
                </a:solidFill>
                <a:latin typeface="Poppins SemiBold"/>
              </a:rPr>
              <a:t>6.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564" y="3674268"/>
            <a:ext cx="1325760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Objective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2433" y="4308574"/>
            <a:ext cx="1392048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b="0" sz="1125" i="0" u="none">
                <a:solidFill>
                  <a:srgbClr val="0F172A"/>
                </a:solidFill>
                <a:latin typeface="Poppins SemiBold"/>
              </a:rPr>
              <a:t>7.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5577" y="4568130"/>
            <a:ext cx="1325760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Interpretation &amp;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61446" y="3414712"/>
            <a:ext cx="1392048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b="0" sz="1125" i="0" u="none">
                <a:solidFill>
                  <a:srgbClr val="0F172A"/>
                </a:solidFill>
                <a:latin typeface="Poppins SemiBold"/>
              </a:rPr>
              <a:t>8.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94590" y="3674268"/>
            <a:ext cx="1325760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Credited 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8655" y="3994249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37668" y="3994249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26681" y="3994249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15694" y="3994249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04707" y="3994249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93719" y="3994249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82732" y="3994249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871745" y="3994249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" y="476250"/>
            <a:ext cx="11601450" cy="520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Anatomy of a Research Paper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1092398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520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Crafting Precise Titles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92398"/>
            <a:ext cx="5334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222301"/>
            <a:ext cx="560070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b="1" sz="1500" i="0" u="none">
                <a:solidFill>
                  <a:srgbClr val="0D9488"/>
                </a:solidFill>
                <a:latin typeface="Poppins"/>
              </a:rPr>
              <a:t>Title Quality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593776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Titles serve as the primary entry point for scientific readers. They must strictly avoid ambiguity and capture the main variables instantly.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146226"/>
            <a:ext cx="5334000" cy="109091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3241476"/>
            <a:ext cx="5067300" cy="900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Case A: Weak vs. Enhanced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200" i="1" u="none">
                <a:solidFill>
                  <a:srgbClr val="334155"/>
                </a:solidFill>
                <a:latin typeface="Inter"/>
              </a:rPr>
              <a:t>Weak: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A Study on Bacteria in Water.</a:t>
            </a:r>
            <a:r>
              <a:t>
</a:t>
            </a:r>
            <a:r>
              <a:rPr b="0" sz="1200" i="1" u="none">
                <a:solidFill>
                  <a:srgbClr val="334155"/>
                </a:solidFill>
                <a:latin typeface="Inter"/>
              </a:rPr>
              <a:t>Enhanced: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Effect of Temperature Variations on </a:t>
            </a:r>
            <a:r>
              <a:rPr b="0" sz="1200" i="1" u="none">
                <a:solidFill>
                  <a:srgbClr val="334155"/>
                </a:solidFill>
                <a:latin typeface="Inter"/>
              </a:rPr>
              <a:t>E. coli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Growth Rate in Freshwater Estuaries.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3146226"/>
            <a:ext cx="38100" cy="109091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351436"/>
            <a:ext cx="5334000" cy="109091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850" y="4446686"/>
            <a:ext cx="5067300" cy="900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Case B: Methodological Focus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200" i="1" u="none">
                <a:solidFill>
                  <a:srgbClr val="334155"/>
                </a:solidFill>
                <a:latin typeface="Inter"/>
              </a:rPr>
              <a:t>Weak: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Analyzing Antibiotic Resistance.</a:t>
            </a:r>
            <a:r>
              <a:t>
</a:t>
            </a:r>
            <a:r>
              <a:rPr b="0" sz="1200" i="1" u="none">
                <a:solidFill>
                  <a:srgbClr val="334155"/>
                </a:solidFill>
                <a:latin typeface="Inter"/>
              </a:rPr>
              <a:t>Enhanced: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Synergistic Activity of Silver Nanoparticles and Ampicillin Against </a:t>
            </a:r>
            <a:r>
              <a:rPr b="0" sz="1200" i="1" u="none">
                <a:solidFill>
                  <a:srgbClr val="334155"/>
                </a:solidFill>
                <a:latin typeface="Inter"/>
              </a:rPr>
              <a:t>P. aeruginosa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351436"/>
            <a:ext cx="38100" cy="109091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4286"/>
            <a:ext cx="5381625" cy="2530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624286"/>
            <a:ext cx="5381625" cy="2530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938611"/>
            <a:ext cx="4990623" cy="324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b="0" sz="1650" i="0" u="none">
                <a:solidFill>
                  <a:srgbClr val="0D9488"/>
                </a:solidFill>
                <a:latin typeface="Poppins SemiBold"/>
              </a:rPr>
              <a:t>Structured 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396704"/>
            <a:ext cx="47529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Organized using explicit subheadings (200–300 words). Highly readable for rapid indexing and clinical evaluation.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2938611"/>
            <a:ext cx="4990623" cy="324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b="0" sz="1650" i="0" u="none">
                <a:solidFill>
                  <a:srgbClr val="0D9488"/>
                </a:solidFill>
                <a:latin typeface="Poppins SemiBold"/>
              </a:rPr>
              <a:t>Unstructured Abstract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3396704"/>
            <a:ext cx="47529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Presents the complete research summary as a single, continuous paragraph without formal subheadings.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934866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Introduction &amp; Rationale: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Background context and missing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236690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Aim &amp; Methods: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Clear objective and key experimental protocols.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538513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Results &amp; Conclusion: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Core empirical values and scientific impact.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3700" y="3934866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Seamless Flow: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Transitions fluidly from problem to findings.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4236690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Self-Contained: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Comprehensible without referencing the full manuscript.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3700" y="4538513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Key Constraints: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Past tense; avoid figures, citations, or jargon.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915816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217640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519463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3915816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4217640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4519463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520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The Abstract: Structure &amp; Formats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092398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68364"/>
            <a:ext cx="2590800" cy="20420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00" y="2868364"/>
            <a:ext cx="2590800" cy="20420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868364"/>
            <a:ext cx="2590800" cy="20420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868364"/>
            <a:ext cx="2590800" cy="204207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106489"/>
            <a:ext cx="51435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773239"/>
            <a:ext cx="1670208" cy="265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0" sz="1350" i="0" u="none">
                <a:solidFill>
                  <a:srgbClr val="0F172A"/>
                </a:solidFill>
                <a:latin typeface="Poppins SemiBold"/>
              </a:rPr>
              <a:t>1. Broader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115097"/>
            <a:ext cx="21145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Establish high-level significance and real-world magnitude of the study domain.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9025" y="3106489"/>
            <a:ext cx="514350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9025" y="3773239"/>
            <a:ext cx="1440180" cy="265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0" sz="1350" i="0" u="none">
                <a:solidFill>
                  <a:srgbClr val="0F172A"/>
                </a:solidFill>
                <a:latin typeface="Poppins SemiBold"/>
              </a:rPr>
              <a:t>2. Core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9025" y="4115097"/>
            <a:ext cx="21145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Narrow focus from general background to the specific unresolved operational issue.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3106489"/>
            <a:ext cx="514350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8425" y="3773239"/>
            <a:ext cx="1490186" cy="265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0" sz="1350" i="0" u="none">
                <a:solidFill>
                  <a:srgbClr val="0F172A"/>
                </a:solidFill>
                <a:latin typeface="Poppins SemiBold"/>
              </a:rPr>
              <a:t>3. Research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4115097"/>
            <a:ext cx="21145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Formally declare what remains missing, contradictory, or unmapped in literature.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7825" y="3106489"/>
            <a:ext cx="514350" cy="514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67825" y="3773239"/>
            <a:ext cx="1090136" cy="265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0" sz="1350" i="0" u="none">
                <a:solidFill>
                  <a:srgbClr val="0F172A"/>
                </a:solidFill>
                <a:latin typeface="Poppins SemiBold"/>
              </a:rPr>
              <a:t>4. 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7825" y="4115097"/>
            <a:ext cx="21145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State precise research goals and hypotheses designed to directly address the gap.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3211264"/>
            <a:ext cx="3048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33800" y="3211264"/>
            <a:ext cx="3048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3211264"/>
            <a:ext cx="30480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91650" y="3211264"/>
            <a:ext cx="2667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520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The Introduction Funnel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092398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7376"/>
            <a:ext cx="11049000" cy="260404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596901"/>
          <a:ext cx="11029948" cy="2584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24607"/>
                <a:gridCol w="4541043"/>
                <a:gridCol w="4864298"/>
              </a:tblGrid>
              <a:tr h="43083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Gap 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Core Definition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Microbiology Example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3083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Evidence Gap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Claims exist without sufficient empirical proof or data.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Bacteriophage efficacy in industrial-scale biofilms remains unverified.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083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Knowledge Gap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Phenomenon is observed, but biological mechanism is unknown.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Probiotic reduces gut inflammation, but signaling pathway is unmapped.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083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Practical Gap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Academic theory is not translated into real-world applications.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Antimicrobial peptides discovered in vitro lack clinical formulation.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083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Methodological Gap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Over-reliance on uniform assays misses deeper analytical insights.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Planktonic stress tested via cell plates instead of sorting assays.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083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Population Gap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Overlooked demographics or non-standard wild strains.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UTI resistance trials excluding rural community-acquired isolates.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027312"/>
            <a:ext cx="1624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05632" y="3027312"/>
            <a:ext cx="45410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46676" y="3027312"/>
            <a:ext cx="48642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457277"/>
            <a:ext cx="1624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05632" y="3457277"/>
            <a:ext cx="45410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46676" y="3457277"/>
            <a:ext cx="48642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3887241"/>
            <a:ext cx="1624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05632" y="3887241"/>
            <a:ext cx="45410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46676" y="3887241"/>
            <a:ext cx="48642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4317206"/>
            <a:ext cx="1624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05632" y="4317206"/>
            <a:ext cx="45410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46676" y="4317206"/>
            <a:ext cx="48642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4747170"/>
            <a:ext cx="1624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05632" y="4747170"/>
            <a:ext cx="45410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46676" y="4747170"/>
            <a:ext cx="48642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20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Taxonomy of Research Gaps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92398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20999"/>
            <a:ext cx="5381625" cy="27369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20999"/>
            <a:ext cx="5381625" cy="27369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835324"/>
            <a:ext cx="4990623" cy="324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b="0" sz="1650" i="0" u="none">
                <a:solidFill>
                  <a:srgbClr val="0D9488"/>
                </a:solidFill>
                <a:latin typeface="Poppins SemiBold"/>
              </a:rPr>
              <a:t>Research Rationale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293417"/>
            <a:ext cx="47529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Establishes the logical bridge between the identified gap and experimental objectives.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2835324"/>
            <a:ext cx="4990623" cy="324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b="0" sz="1650" i="0" u="none">
                <a:solidFill>
                  <a:srgbClr val="0D9488"/>
                </a:solidFill>
                <a:latin typeface="Poppins SemiBold"/>
              </a:rPr>
              <a:t>Literature Review 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3293417"/>
            <a:ext cx="47529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A structured thematic argument connecting multiple studies, not serial summaries.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831580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Justification: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Explains why the specific study must be conducted 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133403"/>
            <a:ext cx="4562475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Value Demonstration: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Highlights practical, theoretical, or clinical benefits.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641800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Objective Support: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Grounded in empirical data rather than speculation.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3700" y="3831580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Field Mapping: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Outlines state-of-the-art consensus boundaries.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4133403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Critical Synthesis: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Evaluates friction, flaws, and methodological limits.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3700" y="4435226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Avoid Pitfalls: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Never list papers sequentially (Author A found X...).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812530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114353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622750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3812530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4114353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4416176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520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Rationale &amp; Literature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092398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2433"/>
            <a:ext cx="11049000" cy="217408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811958"/>
          <a:ext cx="11029948" cy="2155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13024"/>
                <a:gridCol w="3726953"/>
                <a:gridCol w="5489971"/>
              </a:tblGrid>
              <a:tr h="43100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Weak Methodology Protocol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Enhanced Rigorous Protocol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31006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Bacterial Strain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Bacteria were grown in liquid broth...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1" u="none">
                          <a:solidFill>
                            <a:srgbClr val="475569"/>
                          </a:solidFill>
                          <a:latin typeface="Inter"/>
                        </a:rPr>
                        <a:t>Staphylococcus aureus</a:t>
                      </a:r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 (strain ATCC 25923)...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006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Culture Context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...and incubated overnight in tubes...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...cultured in Mueller-Hinton broth at 37°C for 18 h...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1006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Assay Technique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...and then tested with antibiotics.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...MIC values calculated via broth microdilution in triplicate...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007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Statistical Rigor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Results were visually inspected for death.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...followed by statistical validation using a 2-tailed Student t-test.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242369"/>
            <a:ext cx="18130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94049" y="3242369"/>
            <a:ext cx="37269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1003" y="3242369"/>
            <a:ext cx="54899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672333"/>
            <a:ext cx="18130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94049" y="3672333"/>
            <a:ext cx="37269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1003" y="3672333"/>
            <a:ext cx="54899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4102298"/>
            <a:ext cx="18130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94049" y="4102298"/>
            <a:ext cx="37269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1003" y="4102298"/>
            <a:ext cx="54899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4532262"/>
            <a:ext cx="18130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4049" y="4532262"/>
            <a:ext cx="37269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1003" y="4532262"/>
            <a:ext cx="54899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520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Methodology &amp; Precision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92398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20999"/>
            <a:ext cx="5381625" cy="27369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20999"/>
            <a:ext cx="5381625" cy="27369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835324"/>
            <a:ext cx="4990623" cy="324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b="0" sz="1650" i="0" u="none">
                <a:solidFill>
                  <a:srgbClr val="0D9488"/>
                </a:solidFill>
                <a:latin typeface="Poppins SemiBold"/>
              </a:rPr>
              <a:t>Results (Objective Evidence)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293417"/>
            <a:ext cx="47529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Pure, unbiased reporting of primary data without speculative interpretations.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2835324"/>
            <a:ext cx="4990623" cy="324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b="0" sz="1650" i="0" u="none">
                <a:solidFill>
                  <a:srgbClr val="0D9488"/>
                </a:solidFill>
                <a:latin typeface="Poppins SemiBold"/>
              </a:rPr>
              <a:t>Discussion (Scientific Meaning)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3293417"/>
            <a:ext cx="47529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Transforms raw metrics into scientific knowledge and broader understanding.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831580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Objective Findings: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Visual graphs, tables, and exact statistical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133403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Direct Answers: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Directly addresses original research hypotheses.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435226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No Opinions: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Excludes literary comparisons or personal commentary.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3700" y="3831580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Mechanistic Insights: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Explains biological causes behind data patterns.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4133403"/>
            <a:ext cx="4562475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Literature Context: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Compares outcomes with previous contradictory findings.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3700" y="4641800"/>
            <a:ext cx="456247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Limitations: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Transparently identifies experimental boundaries.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812530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114353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416176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3812530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4114353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4622750"/>
            <a:ext cx="85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1" sz="13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520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Results vs. Discussion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092398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882205"/>
            <a:ext cx="10620375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0F172A"/>
                </a:solidFill>
                <a:latin typeface="Inter SemiBold"/>
              </a:rPr>
              <a:t>Synthesis of Actions: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Summarize core findings and overall theoretical contribution without re-stating individual data rows or introducing unverified claims.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3275111"/>
            <a:ext cx="106203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0F172A"/>
                </a:solidFill>
                <a:latin typeface="Inter SemiBold"/>
              </a:rPr>
              <a:t>Two-Step Future Scope Integration: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Transition directly from identified study limitations to concrete research pathways (e.g., moving from in vitro assays to in vivo animal models).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889474"/>
            <a:ext cx="106203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0F172A"/>
                </a:solidFill>
                <a:latin typeface="Inter SemiBold"/>
              </a:rPr>
              <a:t>Actionable Recommendations: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Propose specific experimental models, automated tools, or extended temporal tracking to prevent repetitive effort across the field.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503836"/>
            <a:ext cx="10620375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0F172A"/>
                </a:solidFill>
                <a:latin typeface="Inter SemiBold"/>
              </a:rPr>
              <a:t>Scientific Credibility: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Transparently acknowledging constraints enhances manuscript authority and guides peer researchers toward high-value inquiries.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96492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89399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03761"/>
            <a:ext cx="1428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18124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20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Conclusion &amp; Future Scope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92398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412" y="3675608"/>
            <a:ext cx="5972175" cy="4457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04047" y="1784002"/>
            <a:ext cx="7240905" cy="767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045"/>
              </a:lnSpc>
            </a:pPr>
            <a:r>
              <a:rPr b="1" sz="3900" i="0" u="none">
                <a:solidFill>
                  <a:srgbClr val="FFFFFF"/>
                </a:solidFill>
                <a:latin typeface="Poppins"/>
              </a:rPr>
              <a:t>References &amp; Citation Rigor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0750" y="2704058"/>
            <a:ext cx="66675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Maintaining integrity through accurate attribution, standard APA formats, and thorough literature mapping.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3651349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86175" y="3651646"/>
            <a:ext cx="59150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https://www.accumaxlab.com/wp-content/uploads/2024/07/Accumax-Petri-plates-inner-blog-2.png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6175" y="3891111"/>
            <a:ext cx="59150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www.accumaxlab.com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520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b="1" sz="25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092398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